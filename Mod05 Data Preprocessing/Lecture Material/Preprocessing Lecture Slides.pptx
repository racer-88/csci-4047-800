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80" r:id="rId16"/>
    <p:sldId id="270" r:id="rId17"/>
    <p:sldId id="264" r:id="rId18"/>
    <p:sldId id="271" r:id="rId19"/>
    <p:sldId id="282" r:id="rId20"/>
    <p:sldId id="272" r:id="rId21"/>
    <p:sldId id="273" r:id="rId22"/>
    <p:sldId id="274" r:id="rId23"/>
    <p:sldId id="275" r:id="rId24"/>
    <p:sldId id="284" r:id="rId25"/>
    <p:sldId id="276" r:id="rId26"/>
    <p:sldId id="277" r:id="rId27"/>
    <p:sldId id="278" r:id="rId28"/>
    <p:sldId id="28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BBC19-CB6E-9C48-9DEC-AF4ADC241029}" v="1" dt="2025-09-22T18:57:01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1" autoAdjust="0"/>
    <p:restoredTop sz="94750"/>
  </p:normalViewPr>
  <p:slideViewPr>
    <p:cSldViewPr snapToGrid="0">
      <p:cViewPr varScale="1">
        <p:scale>
          <a:sx n="132" d="100"/>
          <a:sy n="132" d="100"/>
        </p:scale>
        <p:origin x="1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chelle, William Hamilton" userId="1aef333a-c1c3-4ab0-a09f-f9b9f6ed1e37" providerId="ADAL" clId="{9E68D62C-CCBA-5E5F-9958-CF99882D69EB}"/>
    <pc:docChg chg="modSld sldOrd">
      <pc:chgData name="Rochelle, William Hamilton" userId="1aef333a-c1c3-4ab0-a09f-f9b9f6ed1e37" providerId="ADAL" clId="{9E68D62C-CCBA-5E5F-9958-CF99882D69EB}" dt="2025-09-22T18:57:01.356" v="12"/>
      <pc:docMkLst>
        <pc:docMk/>
      </pc:docMkLst>
      <pc:sldChg chg="modSp mod">
        <pc:chgData name="Rochelle, William Hamilton" userId="1aef333a-c1c3-4ab0-a09f-f9b9f6ed1e37" providerId="ADAL" clId="{9E68D62C-CCBA-5E5F-9958-CF99882D69EB}" dt="2025-09-22T18:18:53.895" v="11" actId="20577"/>
        <pc:sldMkLst>
          <pc:docMk/>
          <pc:sldMk cId="1710575713" sldId="264"/>
        </pc:sldMkLst>
        <pc:spChg chg="mod">
          <ac:chgData name="Rochelle, William Hamilton" userId="1aef333a-c1c3-4ab0-a09f-f9b9f6ed1e37" providerId="ADAL" clId="{9E68D62C-CCBA-5E5F-9958-CF99882D69EB}" dt="2025-09-22T18:18:53.895" v="11" actId="20577"/>
          <ac:spMkLst>
            <pc:docMk/>
            <pc:sldMk cId="1710575713" sldId="264"/>
            <ac:spMk id="3" creationId="{FEC603E1-5E4B-0490-F406-B422FB4E5661}"/>
          </ac:spMkLst>
        </pc:spChg>
      </pc:sldChg>
      <pc:sldChg chg="addSp">
        <pc:chgData name="Rochelle, William Hamilton" userId="1aef333a-c1c3-4ab0-a09f-f9b9f6ed1e37" providerId="ADAL" clId="{9E68D62C-CCBA-5E5F-9958-CF99882D69EB}" dt="2025-09-22T18:57:01.356" v="12"/>
        <pc:sldMkLst>
          <pc:docMk/>
          <pc:sldMk cId="3673855680" sldId="278"/>
        </pc:sldMkLst>
        <pc:inkChg chg="add">
          <ac:chgData name="Rochelle, William Hamilton" userId="1aef333a-c1c3-4ab0-a09f-f9b9f6ed1e37" providerId="ADAL" clId="{9E68D62C-CCBA-5E5F-9958-CF99882D69EB}" dt="2025-09-22T18:57:01.356" v="12"/>
          <ac:inkMkLst>
            <pc:docMk/>
            <pc:sldMk cId="3673855680" sldId="278"/>
            <ac:inkMk id="6" creationId="{860069AB-0961-5286-2510-B934A7E546D8}"/>
          </ac:inkMkLst>
        </pc:inkChg>
      </pc:sldChg>
      <pc:sldChg chg="ord">
        <pc:chgData name="Rochelle, William Hamilton" userId="1aef333a-c1c3-4ab0-a09f-f9b9f6ed1e37" providerId="ADAL" clId="{9E68D62C-CCBA-5E5F-9958-CF99882D69EB}" dt="2025-09-22T18:15:11.357" v="0" actId="20578"/>
        <pc:sldMkLst>
          <pc:docMk/>
          <pc:sldMk cId="2477733138" sldId="28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8:53:54.6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21131 5891 24575,'0'44'0,"0"-7"0,0-12 0,0 1 0,0 11 0,0 6 0,0-23 0,0 19 0,0-33 0,0 33 0,0-35 0,0 12 0,0-1 0,0-11 0,0 35 0,0-17 0,0 21 0,0 0 0,0-6 0,0-9 0,0 3 0,0-27 0,0 35 0,0-33 0,0 33 0,0-35 0,0 12 0,0-16 0</inkml:trace>
  <inkml:trace contextRef="#ctx0" brushRef="#br0" timeOffset="3333">21908 5927 24575,'-36'0'0,"-7"0"0,6 0 0,-6 0 0,23 0 0,-19 0 0,33 0 0,-33 0 0,35 0 0,-27 0 0,3 0 0,7 0 0,-3 0 0,24 0 0,0 0 0,0 23 0,0-1 0,0 10 0,0 2 0,0 8 0,0 1 0,-16-4 0,12-33 0,-15 14 0,-1-1 0,14-15 0,-17-4 0,23-4 0,0-12 0,23 16 0,-17-23 0,33 17 0,-35-18 0,12 24 0,8 0 0,-3-15 0,7 11 0,3-12 0,-4 16 0,-5 0 0,17 0 0,-19 0 0,-1 0 0,21 0 0,-35 0 0,35 0 0,-36 0 0,27 0 0,-27 16 0,35-12 0,-33 11 0,33-15 0,-35 24 0,12-18 0,-16 17 0,0-23 0,0 16 0,0-12 0,0 12 0,0-16 0,0 15 0,0-11 0,0 12 0,0-16 0,0 23 0,-16-1 0,12 5 0,-12 5 0,-7-28 0,17 11 0,-17 9 0,7-18 0,12 17 0,-12-23 0,1 0 0,11 0 0,-36 0 0,19 0 0,-7 16 0,-3-12 0,4 11 0,-11-15 0,-5 0 0,0 0 0,22 0 0,-3 0 0,24 0 0</inkml:trace>
  <inkml:trace contextRef="#ctx0" brushRef="#br0" timeOffset="6733">22331 6262 24575,'19'0'0,"21"0"0,-34 0 0,33 0 0,-35 0 0,11 0 0,1 0 0,-12 0 0,12 0 0,7 0 0,-1 0 0,5 0 0,4 0 0,-27 0 0,12 0 0,8 0 0,-19 0 0,19 0 0,-8 0 0,-12 0 0,11 0 0,1 0 0,-12 0 0,12 0 0,-16 0 0,0 0 0</inkml:trace>
  <inkml:trace contextRef="#ctx0" brushRef="#br0" timeOffset="9916">23195 6103 24575,'0'-20'0,"24"-19"0,-18 33 0,17-17 0,-7 23 0,-12 0 0,11 0 0,1-16 0,-12 12 0,35-11 0,-33 15 0,33 0 0,-35 0 0,12 0 0,-16 0 0,15 0 0,-11 0 0,12 0 0,-16 15 0,0-11 0,0 12 0,24 7 0,-19-17 0,19 18 0,-24-9 0,0-11 0,0 12 0,0 0 0,0-12 0,0 11 0,0 9 0,0-18 0,-24 17 0,19-23 0,-19 16 0,24-12 0,-16 12 0,12-16 0,-11 0 0,-1 15 0,12-11 0,-11 12 0,15-16 0,-24 23 0,18-17 0,-17 33 0,23-35 0,-16 12 0,12 0 0,-12-12 0,1 35 0,11-33 0,-12 33 0,-7-35 0,17 27 0,-18-27 0,8 12 0,13 7 0,-13-17 0,16 18 0,-16-24 0,12 0 0,20 0 0,-8 0 0,18 0 0,3 0 0,-8 0 0,22 0 0,-23 0 0,19 0 0,-17 0 0,21 0 0,0 0 0,-6 0 0,-9 0 0,3 0 0,-27 0 0,35 0 0,-33 0 0,33 0 0,-35 0 0,35 0 0,-33 0 0,18 0 0,-24 0 0,0 0 0</inkml:trace>
  <inkml:trace contextRef="#ctx0" brushRef="#br0" timeOffset="13416">20743 7020 24575,'45'0'0,"-19"0"0,-1 0 0,13 0 0,-6 0 0,2 0 0,-6 0 0,1 0 0,10 0 0,6 0 0,-3 0 0,-1 0 0,0 0 0,1 0 0,2 0 0,-5 0 0,-10 0 0,-1 0 0,14 0 0,-2 0 0,9 0 0,-11 0 0,1 0 0,-12 0 0,1 0 0,5 0 0,2 0 0,1 0 0,-1 0 0,-7 0 0,1 0 0,12 0 0,0 0 0,-8 0 0,-1 0 0,0 0 0,0 0 0,10 0 0,-1 0 0,-8 0 0,-2 0 0,2 0 0,-1 0 0,-2 0 0,-1 0 0,14 0 0,-6 0 0,6 0 0,0 0 0,-16 0 0,-1 0 0,6 0 0,5 0 0,-4 0 0,-23 0 0,16 0 0,3 0 0,-2 0 0,11 0 0,-4 0 0,-2 0 0,-6 0 0,1 0 0,1 0 0,-1 0 0,-2 0 0,3 0 0,-1 0 0,1 0 0,-1 0 0,-1 0 0,17 0 0,-14 0 0,1 0 0,2-1 0,0 2 0,1 7 0,-1 0 0,-2-6 0,-1 0 0,1 5 0,-1 2 0,12 6 0,-8-13 0,0 0 0,5 14 0,-13-15 0,1-2 0,11 1 0,6 0 0,-23 0 0,19 0 0,-33 0 0,17 0 0,-23 23 0,0-17 0,0 18 0,0-24 0</inkml:trace>
  <inkml:trace contextRef="#ctx0" brushRef="#br0" timeOffset="18633">21378 7514 24575,'0'43'0,"0"-5"0,0 5 0,0 0 0,0-6 0,0 6 0,0-23 0,0 19 0,0-18 0,0 7 0,-23 3 0,17-27 0,-18 35 0,24-33 0,0 18 0,0-9 0,0-11 0,0 12 0,0-16 0,0 16 0,0-12 0,0 35 0,0-33 0,0 17 0</inkml:trace>
  <inkml:trace contextRef="#ctx0" brushRef="#br0" timeOffset="21283">21713 7602 24575,'0'20'0,"0"11"0,0-27 0,0 35 0,-23-33 0,17 34 0,-17-21 0,7 24 0,12-6 0,-12 7 0,16-1 0,0-22 0,0 3 0,0-9 0,0 5 0,0 0 0,0 19 0,0-33 0,0 17 0,0-7 0,0-12 0,0 12 0,16-16 0,-12 23 0,12-17 0,7 17 0,-17-23 0,33 0 0,-35 0 0,27 0 0,-27 16 0,36-12 0,-35 12 0,19-16 0,-24 0 0,16 0 0,-12 0 0,27 0 0,-27 0 0,12-16 0,-16 12 0,0-12 0,0-7 0,23 17 0,-17-17 0,17 7 0,-23 12 0,0-12 0,0 16 0,0-23 0,0 17 0,0-33 0,0 35 0,0-12 0,0 16 0,0-16 0,-23 12 0,17-11 0,-17 15 0,7 0 0,12 0 0,-12 0 0,1 0 0,11 0 0,-12 0 0,16 0 0,-24 0 0,19 15 0,-35-11 0,36 12 0,-11-16 0,15 16 0,-16-12 0,12 11 0,-12-15 0,16 0 0,0 0 0,0 24 0,0-18 0,0 17 0,0-23 0,0 16 0,0-12 0,0 12 0</inkml:trace>
  <inkml:trace contextRef="#ctx0" brushRef="#br0" timeOffset="24150">22490 7761 24575,'-36'0'0,"17"0"0,-20 0 0,17 0 0,-5 0 0,-5 0 0,28 0 0,-35 0 0,33 0 0,-17 0 0,7 0 0,-11 0 0,5 0 0,-2 0 0,24 0 0,0 0 0,0 16 0,0-12 0,0 11 0,0 9 0,0-18 0,0 17 0,24-7 0,-18-12 0,14 12 0,-1-1 0,-15-11 0,15 15 0,1 1 0,-14-14 0,33 18 0,-35-24 0,22 7 0,3 1 0,-19-4 0,29 12 0,-23-16 0,-12 0 0,27 0 0,-4 0 0,-5 0 0,2 0 0,-9 16 0,-11-12 0,12 11 0,-16 9 0,0-3 0,0 7 0,0 11 0,0-33 0,0 33 0,0-35 0,0 27 0,0-27 0,0 12 0,0-16 0,-16 0 0,12 0 0,-35 0 0,33 0 0,-33 0 0,35 0 0,-27 0 0,27 0 0,-12 0 0,-7 0 0,17-16 0,-18 12 0,24-11 0,0-1 0,0 12 0,0-12 0,0-7 0,0 17 0,0-33 0,0 35 0,0-35 0,0 33 0,24-18 0,-18 24 0,17-15 0,-23 11 0,0-12 0,16 16 0,-12 0 0,11-16 0,-15 12 0,0-35 0,16 33 0,-12-17 0,12 23 0,-16-16 0,0 12 0,0-11 0,0 15 0,0-16 0,0 12 0,0-12 0,0 16 0,0 0 0,0 0 0</inkml:trace>
  <inkml:trace contextRef="#ctx0" brushRef="#br0" timeOffset="25750">22789 7973 24575,'20'0'0,"11"0"0,-27 0 0,36 0 0,-35 0 0,35 0 0,-36 0 0,35 0 0,-33 0 0,33 0 0,-35 0 0,27 0 0,-27 0 0,12 0 0</inkml:trace>
  <inkml:trace contextRef="#ctx0" brushRef="#br0" timeOffset="28250">23248 7796 24575,'35'0'0,"-15"-15"0,19 11 0,-17-12 0,5 16 0,4 0 0,-3 0 0,-7 0 0,19 0 0,-36 0 0,27 0 0,-27 0 0,12 0 0,7 0 0,-17 0 0,17 0 0,-23 16 0,0-12 0,0 35 0,0-33 0,0 33 0,-23-35 0,17 27 0,-17-27 0,23 12 0,-16 7 0,12-17 0,-12 33 0,1-35 0,11 12 0,-36-16 0,35 0 0,-19 0 0,24 16 0,-16-12 0,12 11 0,-11-15 0,15 0 0,-16 0 0,12 0 0,-35 24 0,33-18 0,-17 33 0,7-35 0,12 12 0,-27 7 0,27-17 0,-12 17 0,16-23 0,0 16 0,0-12 0,0 12 0,0-16 0,0 15 0,0-11 0,16 12 0,3-16 0,1 0 0,19 0 0,-17 0 0,21 0 0,-24 0 0,21 0 0,-35 0 0,35 0 0,-36 0 0,11 0 0,1 0 0,-12 0 0,12 0 0,7 0 0,-17 0 0,17 0 0,-7 0 0,-12 0 0,12 0 0,7 0 0,-17 0 0,33 0 0,-35 0 0,12 0 0,0 0 0,-12 0 0,11 0 0,-15 0 0,0 0 0,0 0 0</inkml:trace>
  <inkml:trace contextRef="#ctx0" brushRef="#br0" timeOffset="31183">24853 6632 24575,'-35'0'0,"15"0"0,-8 0 0,1 0 0,18 0 0,-20 9 0,3 6 0,22 6 0,-35 7 0,33 11 0,-18-33 0,24 33 0,0-35 0,-15 27 0,11-3 0,-12 9 0,0-10 0,12 5 0,-11-5 0,15 10 0,0-9 0,0 3 0,-24-3 0,18 9 0,-17-10 0,23 5 0,0-28 0,0 35 0,0-18 0,0 7 0,0 3 0,23-27 0,-17 35 0,18-33 0,-9 18 0,-11-24 0,12 15 0,0-11 0,-12 12 0,11-16 0,9 0 0,-18 0 0,17 0 0,-23 23 0,16-17 0,-12 18 0,11-24 0,-15 0 0,0 0 0,16 0 0,-12 0 0,12 0 0</inkml:trace>
  <inkml:trace contextRef="#ctx0" brushRef="#br0" timeOffset="35683">25118 6844 24575,'0'45'0,"0"-12"0,0 1 0,0 7 0,0-12 0,0 1 0,0 13 0,0-6 0,0-10 0,0 5 0,0-28 0,0 35 0,0-33 0,0 17 0,0-23 0,0 16 0,0-12 0,0 12 0</inkml:trace>
  <inkml:trace contextRef="#ctx0" brushRef="#br0" timeOffset="37466">25523 7091 24575,'44'0'0,"-23"0"0,18 0 0,-35 0 0,28 0 0,-28 0 0,35 0 0,-18 0 0,5 0 0,-1 0 0,-3 0 0,17 0 0,-19 0 0,-1 0 0,-3 0 0,-16 0 0</inkml:trace>
  <inkml:trace contextRef="#ctx0" brushRef="#br0" timeOffset="40066">26441 6967 24575,'-30'0'0,"7"0"0,7 0 0,-3 24 0,-1-18 0,4 17 0,16-7 0,-23-12 0,17 27 0,-18-27 0,9 35 0,11-33 0,-12 33 0,16-35 0,0 28 0,0-28 0,0 35 0,0-33 0,0 17 0,0-7 0,0-12 0,0 27 0,0-27 0,0 12 0,16-16 0,-12 23 0,35-17 0,-18 33 0,7-35 0,3 12 0,-27-16 0,35 0 0,-33 0 0,33 0 0,-35 0 0,12 0 0,7 0 0,-17 0 0,34 0 0,-37 0 0,29 0 0,-28 0 0,11-16 0,9 12 0,-18-35 0,17 33 0,-23-17 0,0 7 0,0 12 0,0-27 0,0 27 0,0-12 0,0-7 0,0 17 0,0-33 0,0 35 0,0-12 0,0 0 0,0 12 0,0-11 0,0 15 0,0-24 0,0 18 0,-23-17 0,17 23 0,-18 0 0,24-16 0,0 12 0,0-11 0,-15 15 0,11 0 0,-12 0 0,16 0 0,-16 0 0,13 0 0,-13 0 0,-8 0 0,18-16 0,-17 12 0,23-12 0,0 16 0</inkml:trace>
  <inkml:trace contextRef="#ctx0" brushRef="#br0" timeOffset="42483">26529 6720 24575,'19'0'0,"13"24"0,-5-18 0,-5 33 0,1-35 0,-7 27 0,-12-3 0,27-7 0,-27 3 0,12-9 0,-16-11 0,23 28 0,-17-28 0,18 35 0,-24-33 0,16 17 0,-13-7 0,13-12 0,-16 12 0,0-1 0,0-11 0,16 35 0,-12-33 0,11 33 0,-15-35 0,0 12 0,0 0 0,0-12 0,0 11 0,0 9 0,0-18 0,0 33 0,0-35 0,0 12 0,0-1 0,0-11 0,0 12 0,0 7 0,0-17 0,0 33 0,0-35 0,0 12 0,0-16 0,0 23 0,0-17 0,0 18 0,0-24 0,0 16 0,0-13 0,0 13 0,-15-16 0,11 0 0,-12 0 0,16 0 0</inkml:trace>
  <inkml:trace contextRef="#ctx0" brushRef="#br0" timeOffset="44533">27358 7144 24575,'0'19'0,"0"13"0,0-5 0,0-5 0,0 17 0,0-35 0,0 12 0,0-1 0,0-11 0,0 12 0,0-16 0,0 23 0,0-17 0,0 18 0,0-24 0,0 15 0,0-11 0,0 12 0,0-16 0,0 23 0,0-17 0,0 18 0,0-24 0,0 16 0,0-13 0,0 13 0</inkml:trace>
  <inkml:trace contextRef="#ctx0" brushRef="#br0" timeOffset="46117">27146 7338 24575,'33'0'0,"-1"0"0,10 0 0,-2 0 0,1 0 0,1 0 0,-1 0 0,0 0 0,-10 0 0,-3 0 0,-9 0 0,20 0 0,-33 0 0,34 0 0,-21 0 0,1 0 0,19 0 0,-33 0 0,33 0 0,-35 0 0,12 0 0,-1 0 0,-11 0 0,12 0 0</inkml:trace>
  <inkml:trace contextRef="#ctx0" brushRef="#br0" timeOffset="48317">28258 7091 24575,'0'29'0,"-16"10"0,12 5 0,-10-24 0,-3 1 0,3 0 0,0 1 0,-4 8 0,-1-5 0,-9-16 0,17 20 0,7-3 0,4-22 0,0 35 0,0-17 0,0 5 0,0 5 0,0-28 0,0 11 0,15-15 0,13 0 0,-7 24 0,19-18 0,-21 17 0,24-23 0,-5 0 0,5 0 0,0 0 0,-22 0 0,19 0 0,-37 0 0,29 0 0,-28 0 0,11 0 0,-15-23 0,0 17 0,0-33 0,0 19 0,0 1 0,0-21 0,0 34 0,0-33 0,0 35 0,0-11 0,0-9 0,0 18 0,0-33 0,0 20 0,0-1 0,0 4 0,0-7 0,0 17 0,0-18 0,0 24 0,-15 0 0,11 0 0,-12 0 0,16 0 0,-16-15 0,13 11 0,-13-12 0,16 16 0,-24 0 0,18 0 0,-17 0 0,7 0 0,12 0 0,-11 0 0,15 0 0,0 0 0,-16 0 0,12 0 0,-12 0 0,16 0 0,-23 0 0,17 0 0,-17 0 0,7 0 0,12 0 0,-12 0 0,1 0 0,11 0 0,-12 0 0,16 0 0,0 0 0</inkml:trace>
  <inkml:trace contextRef="#ctx0" brushRef="#br0" timeOffset="54150">27182 9172 24575,'0'20'0,"0"-4"0,0 7 0,0-17 0,0 33 0,0-19 0,0 23 0,0-6 0,0-10 0,0-11 0,0 0 0,0-12 0,0 11 0,0-15 0,0 0 0,0 0 0</inkml:trace>
  <inkml:trace contextRef="#ctx0" brushRef="#br0" timeOffset="56533">27428 9260 24575,'31'0'0,"-1"0"0,2 0 0,-4 0 0,-2 0 0,-4 0 0,21 0 0,-23 16 0,19-12 0,-33 27 0,33-27 0,-35 12 0,12-16 0,-16 0 0,0 23 0,-16-17 0,-12 34 0,-9-37 0,-6 13 0,0-16 0,6 0 0,9 0 0,-3 0 0,27 0 0,-35 0 0,17 0 0,-5 0 0,-4 0 0,27 0 0,-12-16 0,32 13 0,3-13 0,24 16 0,-5 0 0,5 0 0,-14 0 0,0 0 0,13 0 0,-9 0 0,0 0 0,4 0 0,-9 0 0,3 0 0,-3 0 0,-7 0 0,3 16 0,-24-13 0,0 13 0,0 0 0,0-12 0,0 11 0,0 9 0,0-18 0,0 17 0,0-23 0,-24 16 0,18-12 0,-33 12 0,35-16 0,-27 0 0,27 0 0,-12 0 0,-7 0 0,17 0 0,-18 0 0,9 0 0,11 0 0,-12 0 0,16 0 0,-16 0 0,13 0 0,-13 0 0,16 0 0,0 0 0,0-16 0,0 12 0,0-12 0</inkml:trace>
  <inkml:trace contextRef="#ctx0" brushRef="#br0" timeOffset="57900">26441 9754 24575,'29'0'0,"0"0"0,13 0 0,5 0 0,4 0 0,-17 0 0,0 0 0,0 0 0,2 0 0,-2 0 0,7 0 0,-2 0 0,5 0 0,-1 0 0,-3 0 0,0 0 0,4-1 0,0 2 0,-4 7 0,1 0 0,2-6 0,0 0 0,-3 6 0,0 0 0,1-7 0,-1-2 0,-4 1 0,-2 0 0,-6-2 0,-3 4 0,18 21 0,-13-20 0,-1 0 0,12 21 0,-8-23 0,1-2 0,3 1 0,-4 7 0,1 1 0,7-4 0,-8 4 0,0 0 0,5-8 0,-5 0 0,0 0 0,8 0 0,-10 0 0,-3 0 0,-8 0 0,19 0 0,-33 0 0,17 0 0,-23 0 0,0 0 0</inkml:trace>
  <inkml:trace contextRef="#ctx0" brushRef="#br0" timeOffset="59550">27358 10001 24575,'0'43'0,"0"-21"0,0 17 0,0-19 0,0-1 0,0 21 0,0-35 0,0 35 0,0-36 0,0 35 0,0-18 0,0 7 0,0 3 0,0-27 0,0 35 0,-24-33 0,19 18 0,-19-24 0,24 15 0,0-11 0,0 12 0,0-16 0</inkml:trace>
  <inkml:trace contextRef="#ctx0" brushRef="#br0" timeOffset="61450">27852 10089 24575,'-30'20'0,"7"-4"0,7-1 0,12 13 0,-11 9 0,-1-9 0,15 1 0,-2-4 0,-13-15 0,4 19 0,1-3 0,5-22 0,-18 35 0,24-33 0,0 33 0,0-35 0,0 28 0,0-29 0,24 13 0,-18 8 0,33-3 0,-19 22 0,23-23 0,-25 0 0,1-1 0,7-16 0,-1 0 0,-4 21 0,3-24 0,-24 0 0,16 0 0,-12 0 0,11-24 0,-15 18 0,0-33 0,0 19 0,0-23 0,0 22 0,0-19 0,0 37 0,0-29 0,0 28 0,0-11 0,0-9 0,0 18 0,-15-17 0,11 23 0,-36 0 0,35 0 0,-35 23 0,36-1 0,-11 5 0,-9 5 0,18-29 0,-14 17 0,1 0 0,15-14 0,-11 17 0,-1-23 0,12 16 0,-12-12 0,-7 11 0,17-15 0,-18 0 0,24 0 0,0 0 0</inkml:trace>
  <inkml:trace contextRef="#ctx0" brushRef="#br0" timeOffset="63750">28310 10160 24575,'-29'29'0,"6"11"0,23-36 0,-16 35 0,12-33 0,-12 33 0,1-20 0,11 25 0,-12-23 0,16 18 0,0-19 0,0 23 0,-24-6 0,19 6 0,-19-23 0,24 19 0,0-33 0,0 33 0,0-35 0,0 27 0,0-27 0,24 12 0,-19-16 0,19 0 0,-8 0 0,3 0 0,1 0 0,19 0 0,-33 0 0,33 0 0,-35 0 0,27 0 0,-27 0 0,35 0 0,-33 0 0,34 0 0,-37-16 0,13-3 0,-16-1 0,0 5 0,0-9 0,0 18 0,0-17 0,0 7 0,0 12 0,0-12 0,0 1 0,0 11 0,-16-12 0,13 16 0,-13 0 0,-8 0 0,18 0 0,-17 0 0,7 16 0,12-12 0,-27 27 0,27-4 0,-15-9 0,-1 2 0,14 23 0,-17-24 0,7 21 0,12-35 0,-12 19 0,16-24 0</inkml:trace>
  <inkml:trace contextRef="#ctx0" brushRef="#br0" timeOffset="66633">28963 9754 24575,'29'0'0,"11"0"0,3 0 0,-2 0 0,-12 0 0,1 0 0,13 0 0,-6 0 0,-11 0 0,-1 0 0,-3 0 0,17 0 0,-35 0 0,27 0 0,-27 16 0,12-12 0,-16 12 0</inkml:trace>
  <inkml:trace contextRef="#ctx0" brushRef="#br0" timeOffset="67883">28963 9966 24575,'45'0'0,"-17"0"0,3 0 0,-27 0 0,35 0 0,-17 0 0,5 0 0,4 16 0,-27-12 0,36 11 0,-35-15 0,35 0 0,-36 0 0,11 0 0,-15 0 0,0 0 0,0 0 0</inkml:trace>
  <inkml:trace contextRef="#ctx0" brushRef="#br0" timeOffset="71716">30215 9631 24575,'-19'0'0,"-20"0"0,33 16 0,-18-13 0,16 23 0,1 3 0,-13-3 0,11 7 0,-2 0 0,-9-13 0,1-2 0,13 9 0,-17 4 0,23-27 0,0 36 0,0-35 0,0 19 0,0-8 0,0-12 0,0 27 0,23-4 0,-17-5 0,21-2 0,1-1 0,-20 1 0,20-10 0,-1-1 0,-21 7 0,33-16 0,-35 0 0,27 0 0,-27 0 0,12-16 0,7 12 0,-17-27 0,33 27 0,-35-35 0,28 17 0,-29-5 0,13-4 0,-16 27 0,0-12 0,0 16 0,0-24 0,0 19 0,0-19 0,0 8 0,0 12 0,0-11 0,-16 15 0,13 0 0,-13-16 0,16 12 0,-16-11 0,12 15 0,-11-24 0,15 18 0,-24-17 0,18 7 0,-17 12 0,23-12 0,-16 16 0,12-15 0,-12 11 0,16-12 0,0 16 0</inkml:trace>
  <inkml:trace contextRef="#ctx0" brushRef="#br0" timeOffset="72900">30586 10125 24575,'-20'0'0,"5"-16"0,15 12 0,-24-12 0,18-7 0,-17 17 0,23-17 0,0 23 0,0 0 0,0 0 0</inkml:trace>
  <inkml:trace contextRef="#ctx0" brushRef="#br0" timeOffset="75116">31009 9666 24575,'-29'30'0,"5"9"0,24-35 0,0 11 0,0 1 0,-15-12 0,11 35 0,-28-17 0,28 5 0,-11 4 0,15-3 0,-24-7 0,18 19 0,-17-36 0,23 27 0,0-27 0,0 12 0,0-16 0,0 23 0,23-17 0,-17 17 0,33-7 0,-35-12 0,28 12 0,-5-16 0,-5 0 0,17 0 0,-35 15 0,27-11 0,-27 12 0,35-16 0,-33 0 0,33 0 0,-35 0 0,12 0 0,-16-16 0,16 12 0,-12-27 0,11 4 0,-15-11 0,24-5 0,-18 0 0,13 25 0,1-1 0,-16-24 0,11 23 0,-15 5 0,0 15 0,0-24 0,0 18 0,-15-17 0,11 23 0,-35 0 0,33 0 0,-33 0 0,35 0 0,-28-16 0,28 12 0,-35-12 0,33 16 0,-17-15 0,7 11 0,12-12 0,-12 16 0,16 0 0,-15 0 0,11-23 0,-12 17 0,16-18 0,0 24 0</inkml:trace>
  <inkml:trace contextRef="#ctx0" brushRef="#br0" timeOffset="77400">31380 9719 24575,'19'0'0,"20"0"0,-17 0 0,21 0 0,0 0 0,-6 0 0,-9 0 0,3 0 0,-27 0 0,12 0 0,7 0 0,-17 0 0,18 0 0,-24 0 0,15 0 0,-11 0 0,12 0 0,0 0 0,-12 0 0,11 0 0,-15 0 0,-15 16 0,11-12 0,-12 27 0,16-27 0,0 12 0,-16 7 0,12-17 0,-11 33 0,15-35 0,-24 12 0,18-1 0,-17-11 0,23 12 0,-16 8 0,12-19 0,-11 19 0,-1-8 0,12-12 0,-12 11 0,16 1 0,-23-12 0,17 12 0,-18-16 0,24 23 0,-15-17 0,11 33 0,-12-35 0,0 27 0,12-27 0,-11 12 0,15-16 0,0 24 0,0-19 0,0 19 0</inkml:trace>
  <inkml:trace contextRef="#ctx0" brushRef="#br0" timeOffset="80233">32173 9790 24575,'-29'0'0,"-10"0"0,35 23 0,-12-17 0,-7 33 0,17-35 0,-14 12 0,1-1 0,15-11 0,-12 12 0,16-16 0,0 24 0,-16-19 0,12 35 0,-11-36 0,15 11 0,0 1 0,0-12 0,0 12 0,0-16 0,15 23 0,5-17 0,23 17 0,-6-23 0,-10 8 0,-3 0 0,-2-4 0,17 12 0,-35-16 0,27 0 0,-3 0 0,-7 0 0,3 0 0,-9 0 0,-11 0 0,12 0 0,-16 15 0,0-11 0,0 12 0,0 8 0,0-19 0,-16 35 0,12-36 0,-11 11 0,-9 9 0,3-18 0,-7 17 0,-3-23 0,3 0 0,7 0 0,-18 0 0,35 0 0,-12 0 0,-7 0 0,17 0 0,-18 0 0,24-23 0,0 17 0,0-33 0,0 35 0,0-12 0,0-8 0,24 19 0,-18-19 0,33 8 0,-35 12 0,11-27 0,9 27 0,-18-35 0,17 33 0,-23-17 0,0 23 0,0-16 0,0 12 0,0-12 0,0 16 0,0-15 0,0 11 0,0-12 0,0-8 0,0 19 0,0-19 0,0 8 0,0 12 0,0-11 0,0 15 0,0-16 0,0 12 0,0-11 0,0 15 0,0 0 0,0 0 0</inkml:trace>
  <inkml:trace contextRef="#ctx0" brushRef="#br0" timeOffset="82450">32367 9790 24575,'30'0'0,"-7"0"0,-7 0 0,-12 0 0,12 0 0,-16 23 0,0-1 0,0 5 0,0 4 0,0-27 0,0 36 0,0-19 0,0 7 0,0-13 0,0-15 0,-16 0 0,12 0 0,-12 0 0,-7 16 0,17-12 0,-18 12 0,24-16 0,-15 0 0,11 0 0,-12 0 0,16-16 0,0 12 0,0-12 0,0 1 0,16 11 0,11-12 0,10-8 0,7 19 0,-16-7 0,2 0 0,9 10 0,3 4 0,4-2 0,0 0 0,-5 0 0,-2 0 0,-3 0 0,-5 0 0,-10 0 0,19 0 0,-37 0 0,29 0 0,-28 24 0,11-19 0,-15 35 0,0-36 0,0 27 0,0-4 0,0 11 0,0-11 0,0 4 0,-15-27 0,11 36 0,-28-35 0,29 19 0,-13-24 0,-8 0 0,18 0 0,-17 0 0,7 0 0,12 0 0,-11 0 0,-9 0 0,3 0 0,-7 0 0,13 0 0,-1 0 0,12 0 0,-12 0 0</inkml:trace>
  <inkml:trace contextRef="#ctx0" brushRef="#br0" timeOffset="93033">32579 8925 24575,'-32'0'0,"-1"0"0,-15 0 0,-2 0 0,8 0 0,0 0 0,0 0 0,0 0 0,-8 0 0,2 0 0,15 0 0,1 0 0,0 0 0,-1 0 0,-7 0 0,-2 0 0,3 0 0,-2 0 0,6 0 0,-1 0 0,-1 0-283,-4 0 1,-1 0 0,2 0 282,3 0 0,1 0 0,1 0 0,0 0 0,0 0 0,1 0 0,-1 0 0,0-1 0,1 2 0,-8 7 0,0 0 0,8-6 0,0-2 0,0 2 0,-15 4 0,2 4 0,1 2 0,0-1 0,7-9 0,-2-2 0,1 4 0,4 7 0,1 4 0,-2-2 0,-3-5 0,-2-2 0,1 0 0,4 0 0,1 1 0,1-1 0,-14 2 0,2 0 104,2 4 0,4 0-104,12-10 0,1 1 0,-6 17 0,1 0 0,-4-16 0,-6 11 0,23 1 319,-8-16 1,1 4-320,18 35 0,-31-36 0,1 0 0,29 36 0,-16-29 0,-2 0 0,12 10 0,4 3 0,-9 14 0,1-17 0,0 3 0,11 18 0,-1 0 0,-12-17 0,1 0 0,9 17 0,2 0 0,-13 2 0,23-6 0,-16 6 0,14-14 0,0 1 0,-6 1 0,0 3 0,7-1 0,2 3 0,-1-1 0,0 7 0,0 0 0,0-9 0,0 2 0,0-1-266,0 14 0,0 0 266,0-13 0,0 2 0,0-1 0,0 0 0,-1 0 0,2-1 0,3 1 0,1-1 0,2-2 0,5 8 0,3-1 0,2 4 0,4-2 0,12-13 0,0-1 0,-13 7 0,1-4 0,20-19 0,1-2 0,-22 9 0,1 1 0,8-8 0,6-4 0,-1 0 0,7 2 0,2 1 0,-6-1 0,5 1 0,0 0 0,0-4-651,7-3 1,0-5 0,2 2 650,-5 3 0,2 0 0,0 1 0,0-2 0,-2-2 0,1-1 0,-1-1 0,-1 1 0,-1 0 0,-2 0 0,1 0 0,1 0 0,1 0 0,1 0 0,0 0 0,-1 0 0,-3 0 0,0 0 0,-1 0 0,1 0 0,-2 0 0,0 0 0,0 0 0,0 0-229,-2 0 1,0 0 0,-1 0-1,1 0 229,3 0 0,0 1 0,0-1 0,-1-1 0,4-4 0,-2-1 0,1 1-248,6 5 1,2 0 0,-4-4 247,-10-7 0,-2-4 0,1 2 0,3 6 0,1 1 0,0-2 0,2-8 0,-1-2 0,0 1 0,-4 3 0,0 2 0,1 0 0,-1 3 0,1 0 0,-2 0-84,8-6 0,-1-1 84,-3 1 0,0 2 876,-7 3 1,-1-1-877,2-9 0,-2 0 1463,6 1-1463,-16-2 0,-1-1 880,-2 0-880,2 3 0,-3-1 211,-12 0-211,14 0 0,0-3 0,-17-14 0,5 5 0,0-3 0,-8-4 0,0-2 0,8-5 0,0 0 0,-6-2 0,0 0 0,6 4 0,-1 2 0,-6 1 0,-2 1 0,0 8 0,2 0 0,11-11 0,0 3 0,-6-1 0,6 0 0,-1 0 0,-11 0 0,0 11 0,0 1 0,0-14 0,0 5 0,2 13 0,-4 0 0,-21-13 0,1-5 0,1 21 0,-1 1 0,3-16 0,3 9 0,16-3 0,-24 27 0,18-12 0,-33-7 0,20 17 0,-24-17 0,5 7 0,-5-4 0,0 1 0,25-2 0,-1 2 0,-6 16 0,-1 1 0,-1-17 0,1-2 0,-2 11 0,1 1 0,-10-11 0,-2 4 0,35-7 0,-28 17 0,28-33 0,-11 35 0,-9-12 0,18 1 0,-17 11 0,7-12 0,12-8 0,-11 19 0,-1-19 0,12 24 0,-12 0 0,16 0 0</inkml:trace>
  <inkml:trace contextRef="#ctx0" brushRef="#br0" timeOffset="96216">31080 11501 24575,'0'39'0,"0"0"0,0-7 0,0 1 0,0 5 0,0 0 0,-2-3 0,4 1 0,9 4 0,1 0 0,-9-7 0,0-1 0,8-1 0,2-4 0,2-7 0,-11 19 0,12-17 0,-14 11 0,-4 0 0,2-7 0,0 2 0,0-1 0,0-8 0,0 1 0,0-4 0,0-16 0,0 0 0</inkml:trace>
  <inkml:trace contextRef="#ctx0" brushRef="#br0" timeOffset="98599">31785 11748 8191,'-15'-20'0,"11"4"3276,-28 16-1489,5 0 1031,5 0-2818,-1 0 1719,7 0-1719,12 0 3276,-27 0 0,27 0-3044,-12 0-232,-7 0 0,17 0 0,-33 0 0,35 0 0,-28 0 0,28 0 0,-11 16 0,30-12 0,-11 27 0,12-3 0,-16 9 0,0 6 0,0 0 0,0-21 0,0 17 0,0-35 0,-16 27 0,12-27 0,-11 12 0,15-32 0,0 12 0,0-12 0,15 1 0,-11 11 0,28-12 0,-28 16 0,35 0 0,-33 0 0,33 0 0,-19 0 0,23 0 0,-22 0 0,18 0 0,-35 0 0,28 0 0,-28 16 0,11 3 0,9 1 0,-18-4 0,17 7 0,-23-17 0,0 33 0,0-19 0,0 0 0,0 19 0,0-33 0,0 33 0,0-20 0,0 1 0,-23 19 0,17-17 0,-18 5 0,9 12 0,11-17 0,-12 21 0,0-23 0,12-5 0,-35-15 0,33 0 0,-17 0 0,23 0 0,-16 0 0,12 0 0,-27-15 0,27-5 0,-23 0 0,-1-3 0,18-14 0,-29 9 0,39-11 0,0 33 0,0-17 0</inkml:trace>
  <inkml:trace contextRef="#ctx0" brushRef="#br0" timeOffset="100733">32085 11836 24575,'0'31'0,"0"0"0,0-4 0,0-1 0,0 8 0,0-1 0,0 8 0,0-12 0,0 1 0,0 13 0,0-16 0,0-1 0,0 5 0,0 1 0,0-9 0,0-17 0,0 33 0,-23-11 0,17 9 0,-18-10 0,24 5 0,-15-28 0,11 11 0,-12 9 0,16-18 0,0-6 0,0-22 0,16-21 0,-12 0 0,11 6 0,-2 11 0,-2 1 0,-5-12 0,14 14 0,-1 2 0,-15 2 0,11-20 0,-15 33 0,24-33 0,-18 35 0,33-12 0,-35 16 0,12 0 0,-1 0 0,-11 0 0,35 0 0,-33 0 0,18 0 0,-24 16 0,15-12 0,-11 35 0,12-33 0,-16 17 0,0-7 0,0-12 0,0 11 0,0 1 0,0-12 0,0 35 0,0-33 0,0 33 0,0-35 0,0 35 0,0-33 0,0 33 0,0-35 0,0 12 0,0-16 0,0 16 0,0-12 0,0 11 0,0 9 0,0-18 0,-16 17 0,12-23 0,-11 16 0,15-12 0,0 12 0,0-16 0,0 0 0</inkml:trace>
  <inkml:trace contextRef="#ctx0" brushRef="#br0" timeOffset="102916">32544 12330 24575,'0'19'0,"0"20"0,0-33 0,0 18 0,0-24 0,0 15 0,0-11 0,0 12 0,0 0 0,0-12 0,0 11 0,0 9 0,0-18 0,0 33 0,0-35 0,0 12 0,0-16 0,0 15 0,0-11 0,0 12 0,0-32 0,0-3 0,0-25 0,0 23 0,0-18 0,0 19 0,0 0 0,0-19 0,0 18 0,0-7 0,0 13 0,0-9 0,0 18 0,0-17 0,0 23 0,0-16 0,0 12 0,15-12 0,-11 16 0,12 0 0,-16 0 0,16 0 0,-12 0 0,11 0 0,9 0 0,-18 0 0,33 0 0,-19 0 0,23 0 0,-22 0 0,18 0 0,-11 0 0,-7 0 0,3 0 0,-8 0 0,-13 0 0,13 0 0,-16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63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1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4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7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9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5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4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1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9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6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95F3D71-13D0-4482-A8DA-0F4BACDCB39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58A218E-657C-4B95-BBB1-8D3DAF391C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2949-E0D0-F048-6130-741AB3707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B6A6F-AEF4-7C92-684C-513C81B3FB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Preprocess that data…whatever that means</a:t>
            </a:r>
          </a:p>
        </p:txBody>
      </p:sp>
    </p:spTree>
    <p:extLst>
      <p:ext uri="{BB962C8B-B14F-4D97-AF65-F5344CB8AC3E}">
        <p14:creationId xmlns:p14="http://schemas.microsoft.com/office/powerpoint/2010/main" val="1247073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F273-7374-92DC-AA63-338319FA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Quality: Why Preprocess?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5548-DADA-2DED-1F1B-F27B500BF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!= Knowledge</a:t>
            </a:r>
          </a:p>
          <a:p>
            <a:pPr lvl="1"/>
            <a:r>
              <a:rPr lang="en-US" dirty="0"/>
              <a:t>Knowledge acquisition is </a:t>
            </a:r>
            <a:r>
              <a:rPr lang="en-US" b="1" dirty="0"/>
              <a:t>heavily dependent </a:t>
            </a:r>
            <a:r>
              <a:rPr lang="en-US" dirty="0"/>
              <a:t>on data quality</a:t>
            </a:r>
          </a:p>
          <a:p>
            <a:r>
              <a:rPr lang="en-US" dirty="0"/>
              <a:t>There are several measures for data quality:</a:t>
            </a:r>
          </a:p>
          <a:p>
            <a:pPr lvl="1"/>
            <a:r>
              <a:rPr lang="en-US" b="1" dirty="0"/>
              <a:t>Accuracy</a:t>
            </a:r>
            <a:r>
              <a:rPr lang="en-US" dirty="0"/>
              <a:t>: correct or wrong, accurate or inaccurate, …</a:t>
            </a:r>
          </a:p>
          <a:p>
            <a:pPr lvl="1"/>
            <a:r>
              <a:rPr lang="en-US" b="1" dirty="0"/>
              <a:t>Completeness</a:t>
            </a:r>
            <a:r>
              <a:rPr lang="en-US" dirty="0"/>
              <a:t>: not recorded, unavailable, …</a:t>
            </a:r>
          </a:p>
          <a:p>
            <a:pPr lvl="1"/>
            <a:r>
              <a:rPr lang="en-US" b="1" dirty="0"/>
              <a:t>Consistency</a:t>
            </a:r>
            <a:r>
              <a:rPr lang="en-US" dirty="0"/>
              <a:t>: some modified but some not, dangling, …</a:t>
            </a:r>
          </a:p>
          <a:p>
            <a:pPr lvl="1"/>
            <a:r>
              <a:rPr lang="en-US" b="1" dirty="0"/>
              <a:t>Timeliness</a:t>
            </a:r>
            <a:r>
              <a:rPr lang="en-US" dirty="0"/>
              <a:t>: timely updates?</a:t>
            </a:r>
          </a:p>
          <a:p>
            <a:pPr lvl="1"/>
            <a:r>
              <a:rPr lang="en-US" b="1" dirty="0"/>
              <a:t>Believability</a:t>
            </a:r>
            <a:r>
              <a:rPr lang="en-US" dirty="0"/>
              <a:t>: how trustable the data are correct?</a:t>
            </a:r>
          </a:p>
          <a:p>
            <a:pPr lvl="1"/>
            <a:r>
              <a:rPr lang="en-US" b="1" dirty="0"/>
              <a:t>Interpretability</a:t>
            </a:r>
            <a:r>
              <a:rPr lang="en-US" dirty="0"/>
              <a:t>: how easily the data can be understood?</a:t>
            </a:r>
          </a:p>
        </p:txBody>
      </p:sp>
    </p:spTree>
    <p:extLst>
      <p:ext uri="{BB962C8B-B14F-4D97-AF65-F5344CB8AC3E}">
        <p14:creationId xmlns:p14="http://schemas.microsoft.com/office/powerpoint/2010/main" val="14423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1C36-EDE2-5AAF-BD90-B2854F7B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Preprocessing?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F08A0-BBAA-7B75-5FC1-26D662776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928464"/>
          </a:xfrm>
        </p:spPr>
        <p:txBody>
          <a:bodyPr/>
          <a:lstStyle/>
          <a:p>
            <a:r>
              <a:rPr lang="en-US" b="1" u="sng" dirty="0"/>
              <a:t>Preprocessing</a:t>
            </a:r>
            <a:r>
              <a:rPr lang="en-US" dirty="0"/>
              <a:t> is the process of transforming the raw data in a useful and efficient format</a:t>
            </a:r>
          </a:p>
          <a:p>
            <a:pPr lvl="1"/>
            <a:r>
              <a:rPr lang="en-US" dirty="0"/>
              <a:t>We want our data to be free from noisy and/or missing data as well as remove discrepancies </a:t>
            </a:r>
          </a:p>
        </p:txBody>
      </p:sp>
      <p:pic>
        <p:nvPicPr>
          <p:cNvPr id="4" name="Picture 2" descr="Image result for data preprocessing&quot;">
            <a:extLst>
              <a:ext uri="{FF2B5EF4-FFF2-40B4-BE49-F238E27FC236}">
                <a16:creationId xmlns:a16="http://schemas.microsoft.com/office/drawing/2014/main" id="{84649F28-4B9C-C296-E4F0-805578D68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r="6666"/>
          <a:stretch/>
        </p:blipFill>
        <p:spPr bwMode="auto">
          <a:xfrm>
            <a:off x="4014725" y="3429000"/>
            <a:ext cx="4162550" cy="29301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46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40EB-8826-8BEC-9316-9FC8DD29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Preprocessing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FA09E-B716-37FC-C968-9B0AC47CE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Yes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dirty="0"/>
              <a:t>Not only is it necessary to perform meaningful analysis, but it will also take up the largest chunk of a data scientist’s time</a:t>
            </a:r>
          </a:p>
          <a:p>
            <a:pPr lvl="1"/>
            <a:r>
              <a:rPr lang="en-US" dirty="0"/>
              <a:t>We’ve seen how quickly Python can perform the analytics components; ensuring the data is cleansed will require more from you: the analyst</a:t>
            </a:r>
          </a:p>
          <a:p>
            <a:r>
              <a:rPr lang="en-US" dirty="0"/>
              <a:t>It’s a safe assumption that data loading / preprocessing will take around 30-40% of your time on an analytics project</a:t>
            </a:r>
          </a:p>
        </p:txBody>
      </p:sp>
    </p:spTree>
    <p:extLst>
      <p:ext uri="{BB962C8B-B14F-4D97-AF65-F5344CB8AC3E}">
        <p14:creationId xmlns:p14="http://schemas.microsoft.com/office/powerpoint/2010/main" val="3149665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72DB-2F5E-3B99-6526-90996F85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of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758E7-498C-4DC0-4F48-F0951D279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cleaning</a:t>
            </a:r>
          </a:p>
          <a:p>
            <a:pPr lvl="1"/>
            <a:r>
              <a:rPr lang="en-US" dirty="0"/>
              <a:t>Fill in missing values, smooth noisy data, identify or remove outliers, and resolve inconsistencies</a:t>
            </a:r>
          </a:p>
          <a:p>
            <a:r>
              <a:rPr lang="en-US" b="1" dirty="0"/>
              <a:t>Data integration</a:t>
            </a:r>
          </a:p>
          <a:p>
            <a:pPr lvl="1"/>
            <a:r>
              <a:rPr lang="en-US" dirty="0"/>
              <a:t>Integration of multiple databases, data cubes, files, etc.</a:t>
            </a:r>
          </a:p>
          <a:p>
            <a:r>
              <a:rPr lang="en-US" b="1" dirty="0"/>
              <a:t>Data reduction</a:t>
            </a:r>
          </a:p>
          <a:p>
            <a:pPr lvl="1"/>
            <a:r>
              <a:rPr lang="en-US" dirty="0"/>
              <a:t>Dimensionality &amp; numerosity reduction,</a:t>
            </a:r>
          </a:p>
          <a:p>
            <a:pPr lvl="1"/>
            <a:r>
              <a:rPr lang="en-US" dirty="0"/>
              <a:t>Data compression</a:t>
            </a:r>
          </a:p>
          <a:p>
            <a:r>
              <a:rPr lang="en-US" b="1" dirty="0"/>
              <a:t>Data transformation &amp; discretization</a:t>
            </a:r>
          </a:p>
          <a:p>
            <a:pPr lvl="1"/>
            <a:r>
              <a:rPr lang="en-US" dirty="0"/>
              <a:t>Normalization </a:t>
            </a:r>
          </a:p>
          <a:p>
            <a:pPr lvl="1"/>
            <a:r>
              <a:rPr lang="en-US" dirty="0"/>
              <a:t>Concept hierarchy generation</a:t>
            </a:r>
          </a:p>
        </p:txBody>
      </p:sp>
    </p:spTree>
    <p:extLst>
      <p:ext uri="{BB962C8B-B14F-4D97-AF65-F5344CB8AC3E}">
        <p14:creationId xmlns:p14="http://schemas.microsoft.com/office/powerpoint/2010/main" val="3681123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B3EFB-C792-6CB7-139B-6AEEF6EE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of Data Preprocessing, cont.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F6EBE7B-3D06-3985-0AE1-C28D79646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4124210" y="1883245"/>
            <a:ext cx="3943580" cy="4447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025FBC-1FE0-A0BD-2B00-61CD66DF5273}"/>
              </a:ext>
            </a:extLst>
          </p:cNvPr>
          <p:cNvSpPr txBox="1"/>
          <p:nvPr/>
        </p:nvSpPr>
        <p:spPr>
          <a:xfrm>
            <a:off x="3783026" y="6492875"/>
            <a:ext cx="4625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Data Mining concepts and Techniques 3</a:t>
            </a:r>
            <a:r>
              <a:rPr lang="en-US" i="1" baseline="30000" dirty="0"/>
              <a:t>rd</a:t>
            </a:r>
            <a:r>
              <a:rPr lang="en-US" i="1" dirty="0"/>
              <a:t> ed.</a:t>
            </a:r>
          </a:p>
        </p:txBody>
      </p:sp>
    </p:spTree>
    <p:extLst>
      <p:ext uri="{BB962C8B-B14F-4D97-AF65-F5344CB8AC3E}">
        <p14:creationId xmlns:p14="http://schemas.microsoft.com/office/powerpoint/2010/main" val="230719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03DB-4CA6-243A-EC42-98DCA1AEE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A5B6E-4512-A492-9F0C-AF353EC4C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Scrub-a-dub-dub</a:t>
            </a:r>
          </a:p>
        </p:txBody>
      </p:sp>
    </p:spTree>
    <p:extLst>
      <p:ext uri="{BB962C8B-B14F-4D97-AF65-F5344CB8AC3E}">
        <p14:creationId xmlns:p14="http://schemas.microsoft.com/office/powerpoint/2010/main" val="1011963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5C25-04C2-F057-E87C-0ADF5B06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5AE4-3399-3A39-43A2-AA763824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in the real world is often dirty – there are a lot of potentially incorrect data in each data set</a:t>
            </a:r>
          </a:p>
          <a:p>
            <a:pPr lvl="1"/>
            <a:r>
              <a:rPr lang="en-US" b="1" dirty="0"/>
              <a:t>Incomplete</a:t>
            </a:r>
            <a:r>
              <a:rPr lang="en-US" dirty="0"/>
              <a:t>: lacking attribute values, lacking certain attributes of interest, only containing aggregate data</a:t>
            </a:r>
          </a:p>
          <a:p>
            <a:pPr lvl="2"/>
            <a:r>
              <a:rPr lang="en-US" dirty="0"/>
              <a:t>E.g., Age = “N/A” (placeholders such as “N/A” can still be interpreted as missing)</a:t>
            </a:r>
          </a:p>
          <a:p>
            <a:pPr lvl="2"/>
            <a:r>
              <a:rPr lang="en-US" dirty="0"/>
              <a:t>E.g., Salary = </a:t>
            </a:r>
            <a:r>
              <a:rPr lang="en-US" dirty="0" err="1"/>
              <a:t>NaN</a:t>
            </a:r>
            <a:r>
              <a:rPr lang="en-US" dirty="0"/>
              <a:t> or NULL (no value present)</a:t>
            </a:r>
          </a:p>
          <a:p>
            <a:pPr lvl="1"/>
            <a:r>
              <a:rPr lang="en-US" b="1" dirty="0"/>
              <a:t>Noisy</a:t>
            </a:r>
            <a:r>
              <a:rPr lang="en-US" dirty="0"/>
              <a:t>: containing “noise” (errors)</a:t>
            </a:r>
          </a:p>
          <a:p>
            <a:pPr lvl="2"/>
            <a:r>
              <a:rPr lang="en-US" dirty="0"/>
              <a:t>E.g., Salary = -10 (an error)</a:t>
            </a:r>
          </a:p>
          <a:p>
            <a:pPr lvl="1"/>
            <a:r>
              <a:rPr lang="en-US" b="1" dirty="0"/>
              <a:t>Inconsistent</a:t>
            </a:r>
            <a:r>
              <a:rPr lang="en-US" dirty="0"/>
              <a:t>: containing discrepancies in codes or names</a:t>
            </a:r>
          </a:p>
          <a:p>
            <a:pPr lvl="2"/>
            <a:r>
              <a:rPr lang="en-US" dirty="0"/>
              <a:t>E.g., Age = “52”, Age = “fifty-two”</a:t>
            </a:r>
          </a:p>
          <a:p>
            <a:pPr lvl="2"/>
            <a:r>
              <a:rPr lang="en-US" dirty="0"/>
              <a:t>E.g., Gender = “M”, Gender = “Male”</a:t>
            </a:r>
          </a:p>
          <a:p>
            <a:pPr lvl="2"/>
            <a:r>
              <a:rPr lang="en-US" dirty="0"/>
              <a:t>E.g., Rating = “A” on older records, but Rating = “1” in newer records</a:t>
            </a:r>
          </a:p>
          <a:p>
            <a:pPr lvl="1"/>
            <a:r>
              <a:rPr lang="en-US" b="1" dirty="0"/>
              <a:t>Outliers</a:t>
            </a:r>
          </a:p>
          <a:p>
            <a:pPr lvl="2"/>
            <a:r>
              <a:rPr lang="en-US" dirty="0"/>
              <a:t>1, 2, 700000000, 4, 2, 5</a:t>
            </a:r>
          </a:p>
        </p:txBody>
      </p:sp>
    </p:spTree>
    <p:extLst>
      <p:ext uri="{BB962C8B-B14F-4D97-AF65-F5344CB8AC3E}">
        <p14:creationId xmlns:p14="http://schemas.microsoft.com/office/powerpoint/2010/main" val="353172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883C-7082-09A8-8DF0-11C73714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Time!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0FE8A4-49F8-97B2-3234-765C2F0BE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591056"/>
              </p:ext>
            </p:extLst>
          </p:nvPr>
        </p:nvGraphicFramePr>
        <p:xfrm>
          <a:off x="2400299" y="2105255"/>
          <a:ext cx="7391400" cy="386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914">
                  <a:extLst>
                    <a:ext uri="{9D8B030D-6E8A-4147-A177-3AD203B41FA5}">
                      <a16:colId xmlns:a16="http://schemas.microsoft.com/office/drawing/2014/main" val="4046654061"/>
                    </a:ext>
                  </a:extLst>
                </a:gridCol>
                <a:gridCol w="568569">
                  <a:extLst>
                    <a:ext uri="{9D8B030D-6E8A-4147-A177-3AD203B41FA5}">
                      <a16:colId xmlns:a16="http://schemas.microsoft.com/office/drawing/2014/main" val="2049546016"/>
                    </a:ext>
                  </a:extLst>
                </a:gridCol>
                <a:gridCol w="684437">
                  <a:extLst>
                    <a:ext uri="{9D8B030D-6E8A-4147-A177-3AD203B41FA5}">
                      <a16:colId xmlns:a16="http://schemas.microsoft.com/office/drawing/2014/main" val="1340063039"/>
                    </a:ext>
                  </a:extLst>
                </a:gridCol>
                <a:gridCol w="1119477">
                  <a:extLst>
                    <a:ext uri="{9D8B030D-6E8A-4147-A177-3AD203B41FA5}">
                      <a16:colId xmlns:a16="http://schemas.microsoft.com/office/drawing/2014/main" val="2321140407"/>
                    </a:ext>
                  </a:extLst>
                </a:gridCol>
                <a:gridCol w="1120156">
                  <a:extLst>
                    <a:ext uri="{9D8B030D-6E8A-4147-A177-3AD203B41FA5}">
                      <a16:colId xmlns:a16="http://schemas.microsoft.com/office/drawing/2014/main" val="267363191"/>
                    </a:ext>
                  </a:extLst>
                </a:gridCol>
                <a:gridCol w="1624484">
                  <a:extLst>
                    <a:ext uri="{9D8B030D-6E8A-4147-A177-3AD203B41FA5}">
                      <a16:colId xmlns:a16="http://schemas.microsoft.com/office/drawing/2014/main" val="3446758223"/>
                    </a:ext>
                  </a:extLst>
                </a:gridCol>
                <a:gridCol w="1218363">
                  <a:extLst>
                    <a:ext uri="{9D8B030D-6E8A-4147-A177-3AD203B41FA5}">
                      <a16:colId xmlns:a16="http://schemas.microsoft.com/office/drawing/2014/main" val="3220820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Income Tax</a:t>
                      </a:r>
                    </a:p>
                    <a:p>
                      <a:pPr algn="ctr"/>
                      <a:r>
                        <a:rPr lang="en-US" sz="1300" dirty="0"/>
                        <a:t>(5% of income)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6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9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13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56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5 500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1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1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3 800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02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25 500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07774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78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Sheldon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5270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D9EFB4-41B2-DE11-F289-9D56B9CC0CCE}"/>
              </a:ext>
            </a:extLst>
          </p:cNvPr>
          <p:cNvSpPr txBox="1"/>
          <p:nvPr/>
        </p:nvSpPr>
        <p:spPr>
          <a:xfrm>
            <a:off x="4674263" y="6175768"/>
            <a:ext cx="2843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#1 on the worksheet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26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5604-3A71-6133-D0A3-35929AF5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B6DA9-7C4B-8E8A-20A3-1EC5FFFE6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Ignore the rows with missing data (empty fields), or</a:t>
            </a:r>
          </a:p>
          <a:p>
            <a:r>
              <a:rPr lang="en-US" dirty="0"/>
              <a:t>Perform </a:t>
            </a:r>
            <a:r>
              <a:rPr lang="en-US" b="1" dirty="0"/>
              <a:t>imputation</a:t>
            </a:r>
          </a:p>
          <a:p>
            <a:pPr lvl="1"/>
            <a:r>
              <a:rPr lang="en-US" b="1" u="sng" dirty="0"/>
              <a:t>Imputation</a:t>
            </a:r>
            <a:r>
              <a:rPr lang="en-US" dirty="0"/>
              <a:t> is the process of replacing missing data with substituted values</a:t>
            </a:r>
          </a:p>
          <a:p>
            <a:pPr lvl="1"/>
            <a:r>
              <a:rPr lang="en-US" dirty="0"/>
              <a:t>These values are either calculated (e.g., the mean of other records) or inferred (based on similar rows)</a:t>
            </a:r>
          </a:p>
        </p:txBody>
      </p:sp>
    </p:spTree>
    <p:extLst>
      <p:ext uri="{BB962C8B-B14F-4D97-AF65-F5344CB8AC3E}">
        <p14:creationId xmlns:p14="http://schemas.microsoft.com/office/powerpoint/2010/main" val="191442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DDF2-F9BD-77D7-362A-20027CA6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 Missing Data,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CEF06-3DFB-E1EC-4058-BBCCBD5B4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Ignore the rows – this is not effective when the percentage of missing values per attribute is high (e.g., 50-60%)</a:t>
            </a:r>
          </a:p>
          <a:p>
            <a:r>
              <a:rPr lang="en-US" dirty="0"/>
              <a:t>Fill in the missing values manually: this is tedious if not outright unfeasible. </a:t>
            </a:r>
          </a:p>
          <a:p>
            <a:r>
              <a:rPr lang="en-US" dirty="0"/>
              <a:t>Fill it in with imputation</a:t>
            </a:r>
          </a:p>
          <a:p>
            <a:pPr lvl="1"/>
            <a:r>
              <a:rPr lang="en-US" dirty="0"/>
              <a:t>The attribute mean: e.g., a missing value for “age” will take the mean of the “age” column</a:t>
            </a:r>
          </a:p>
          <a:p>
            <a:pPr lvl="1"/>
            <a:r>
              <a:rPr lang="en-US" dirty="0"/>
              <a:t>The most probably value: this is inference-based with techniques such as </a:t>
            </a:r>
            <a:r>
              <a:rPr lang="en-US" dirty="0" err="1"/>
              <a:t>kNN</a:t>
            </a:r>
            <a:r>
              <a:rPr lang="en-US" dirty="0"/>
              <a:t>, Bayesian formulae, or decision trees (more later in the course)</a:t>
            </a:r>
          </a:p>
        </p:txBody>
      </p:sp>
    </p:spTree>
    <p:extLst>
      <p:ext uri="{BB962C8B-B14F-4D97-AF65-F5344CB8AC3E}">
        <p14:creationId xmlns:p14="http://schemas.microsoft.com/office/powerpoint/2010/main" val="2326173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05C3-E473-978D-96FE-D58D2448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DE430-2EDC-C36D-060A-8BEC1320C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u="sng" dirty="0"/>
              <a:t>Noise</a:t>
            </a:r>
            <a:r>
              <a:rPr lang="en-US" dirty="0"/>
              <a:t> is a random error or variance in a measured variable</a:t>
            </a:r>
          </a:p>
          <a:p>
            <a:r>
              <a:rPr lang="en-US" dirty="0"/>
              <a:t>Incorrect attribute values may be due to</a:t>
            </a:r>
          </a:p>
          <a:p>
            <a:pPr lvl="1"/>
            <a:r>
              <a:rPr lang="en-US" dirty="0"/>
              <a:t>Faulty data collection</a:t>
            </a:r>
          </a:p>
          <a:p>
            <a:pPr lvl="1"/>
            <a:r>
              <a:rPr lang="en-US" dirty="0"/>
              <a:t>Faulty data entry</a:t>
            </a:r>
          </a:p>
          <a:p>
            <a:pPr lvl="1"/>
            <a:r>
              <a:rPr lang="en-US" dirty="0"/>
              <a:t>Data transmission problems</a:t>
            </a:r>
          </a:p>
          <a:p>
            <a:pPr lvl="1"/>
            <a:r>
              <a:rPr lang="en-US" dirty="0"/>
              <a:t>Technology limitations</a:t>
            </a:r>
          </a:p>
          <a:p>
            <a:pPr lvl="1"/>
            <a:r>
              <a:rPr lang="en-US" dirty="0"/>
              <a:t>Naming inconsistencies</a:t>
            </a:r>
          </a:p>
          <a:p>
            <a:r>
              <a:rPr lang="en-US" dirty="0"/>
              <a:t>Other data problems which require cleaning</a:t>
            </a:r>
          </a:p>
          <a:p>
            <a:pPr lvl="1"/>
            <a:r>
              <a:rPr lang="en-US" dirty="0"/>
              <a:t>Duplicate records</a:t>
            </a:r>
          </a:p>
          <a:p>
            <a:pPr lvl="1"/>
            <a:r>
              <a:rPr lang="en-US" dirty="0"/>
              <a:t>Incomplete data</a:t>
            </a:r>
          </a:p>
          <a:p>
            <a:pPr lvl="1"/>
            <a:r>
              <a:rPr lang="en-US" dirty="0"/>
              <a:t>Inconsistent data</a:t>
            </a:r>
          </a:p>
        </p:txBody>
      </p:sp>
    </p:spTree>
    <p:extLst>
      <p:ext uri="{BB962C8B-B14F-4D97-AF65-F5344CB8AC3E}">
        <p14:creationId xmlns:p14="http://schemas.microsoft.com/office/powerpoint/2010/main" val="1485708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2E83-97FF-AD22-6AEA-77A64175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Noisy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E4118-92E5-435F-3AE8-1CF4FC5B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Binning</a:t>
            </a:r>
            <a:r>
              <a:rPr lang="en-US" dirty="0"/>
              <a:t>: first sort data and partition into (equal-frequency) bins</a:t>
            </a:r>
          </a:p>
          <a:p>
            <a:pPr lvl="1"/>
            <a:r>
              <a:rPr lang="en-US" dirty="0"/>
              <a:t>You can then smooth (reduce noise) by bin means or bin medians</a:t>
            </a:r>
          </a:p>
          <a:p>
            <a:r>
              <a:rPr lang="en-US" b="1" dirty="0"/>
              <a:t>Regression</a:t>
            </a:r>
            <a:r>
              <a:rPr lang="en-US" dirty="0"/>
              <a:t>: smooth by fitting the data into regression functions</a:t>
            </a:r>
          </a:p>
          <a:p>
            <a:r>
              <a:rPr lang="en-US" b="1" dirty="0"/>
              <a:t>Clustering</a:t>
            </a:r>
            <a:r>
              <a:rPr lang="en-US" dirty="0"/>
              <a:t>: detect and remove outliers</a:t>
            </a:r>
          </a:p>
          <a:p>
            <a:r>
              <a:rPr lang="en-US" dirty="0"/>
              <a:t>Combined </a:t>
            </a:r>
            <a:r>
              <a:rPr lang="en-US" b="1" dirty="0"/>
              <a:t>computer</a:t>
            </a:r>
            <a:r>
              <a:rPr lang="en-US" dirty="0"/>
              <a:t> and </a:t>
            </a:r>
            <a:r>
              <a:rPr lang="en-US" b="1" dirty="0"/>
              <a:t>human</a:t>
            </a:r>
            <a:r>
              <a:rPr lang="en-US" dirty="0"/>
              <a:t> inspection</a:t>
            </a:r>
          </a:p>
          <a:p>
            <a:pPr lvl="1"/>
            <a:r>
              <a:rPr lang="en-US" dirty="0"/>
              <a:t>Detect suspicious values and check by human</a:t>
            </a:r>
          </a:p>
          <a:p>
            <a:pPr lvl="2"/>
            <a:r>
              <a:rPr lang="en-US" dirty="0"/>
              <a:t>E.g., looking over </a:t>
            </a:r>
            <a:r>
              <a:rPr lang="en-US" i="1" dirty="0"/>
              <a:t>possible</a:t>
            </a:r>
            <a:r>
              <a:rPr lang="en-US" dirty="0"/>
              <a:t> outliers: if a value in the </a:t>
            </a:r>
            <a:r>
              <a:rPr lang="en-US" i="1" dirty="0"/>
              <a:t>Age</a:t>
            </a:r>
            <a:r>
              <a:rPr lang="en-US" dirty="0"/>
              <a:t> column is 780 that is either noise or an immortal</a:t>
            </a:r>
          </a:p>
        </p:txBody>
      </p:sp>
    </p:spTree>
    <p:extLst>
      <p:ext uri="{BB962C8B-B14F-4D97-AF65-F5344CB8AC3E}">
        <p14:creationId xmlns:p14="http://schemas.microsoft.com/office/powerpoint/2010/main" val="1358423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BCF0-3173-B5BB-0445-92D1BD56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Discrepancies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B3BE0-064F-7324-3673-7E7CCB4D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metadata (e.g., domain, range, dependency, distribution)</a:t>
            </a:r>
          </a:p>
          <a:p>
            <a:r>
              <a:rPr lang="en-US" dirty="0"/>
              <a:t>Check field overloading</a:t>
            </a:r>
          </a:p>
          <a:p>
            <a:r>
              <a:rPr lang="en-US" dirty="0"/>
              <a:t>Check uniqueness, null, and other constraints</a:t>
            </a:r>
          </a:p>
          <a:p>
            <a:r>
              <a:rPr lang="en-US" dirty="0"/>
              <a:t>Use tools such as commercial products or AI:</a:t>
            </a:r>
          </a:p>
          <a:p>
            <a:pPr lvl="1"/>
            <a:r>
              <a:rPr lang="en-US" dirty="0"/>
              <a:t>Data Scrubbing: uses simple domain knowledge (e.g., postal codes, spell-checking, etc.) to detect errors and make corrections</a:t>
            </a:r>
          </a:p>
          <a:p>
            <a:pPr lvl="1"/>
            <a:r>
              <a:rPr lang="en-US" dirty="0"/>
              <a:t>Data auditing: analyze data to discover rules and relationships to detect violators (e.g., correlation and clustering to find outliers)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998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D846-F32E-CAC2-CCBE-83CDA796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A2EA0-701A-308E-C225-E0C80188F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Integwation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3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7D30-8BE5-6118-334B-9224A761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Migration &amp; Integration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5B57-8B7E-C0A9-6318-2653A46EB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migration tools allow transformations to be specified</a:t>
            </a:r>
          </a:p>
          <a:p>
            <a:r>
              <a:rPr lang="en-US" dirty="0"/>
              <a:t>ETL (Extract/Transform/Load) tools allow users to specify transformations through a GUI</a:t>
            </a:r>
          </a:p>
          <a:p>
            <a:pPr lvl="1"/>
            <a:r>
              <a:rPr lang="en-US" dirty="0"/>
              <a:t>E.g., Microsoft SSIS with MS SQL Server</a:t>
            </a:r>
          </a:p>
        </p:txBody>
      </p:sp>
    </p:spTree>
    <p:extLst>
      <p:ext uri="{BB962C8B-B14F-4D97-AF65-F5344CB8AC3E}">
        <p14:creationId xmlns:p14="http://schemas.microsoft.com/office/powerpoint/2010/main" val="3301541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6EA8-FE79-AA9C-F4CE-703B81BB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03E1-5E4B-0490-F406-B422FB4E5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Data integration</a:t>
            </a:r>
            <a:r>
              <a:rPr lang="en-US" dirty="0"/>
              <a:t>: combining data from multiple sources into a coherent dataset. </a:t>
            </a:r>
          </a:p>
          <a:p>
            <a:r>
              <a:rPr lang="en-US" dirty="0"/>
              <a:t>Entity identification problem:</a:t>
            </a:r>
          </a:p>
          <a:p>
            <a:pPr lvl="1"/>
            <a:r>
              <a:rPr lang="en-US" dirty="0"/>
              <a:t>Identify real world entities from multiple data sources: e.g., “Robert Jones” = “Bob Jones”, “n00b” = “newbie”, “Santa Claus” = “Saint Nick”</a:t>
            </a:r>
          </a:p>
          <a:p>
            <a:r>
              <a:rPr lang="en-US" dirty="0"/>
              <a:t>Detecting and resolving data value conflicts:</a:t>
            </a:r>
          </a:p>
          <a:p>
            <a:pPr lvl="1"/>
            <a:r>
              <a:rPr lang="en-US" dirty="0"/>
              <a:t>Possible reasons: different representations, different scales (e.g., kilogram vs. pound, kilometer vs. mile, etc.)</a:t>
            </a:r>
          </a:p>
        </p:txBody>
      </p:sp>
    </p:spTree>
    <p:extLst>
      <p:ext uri="{BB962C8B-B14F-4D97-AF65-F5344CB8AC3E}">
        <p14:creationId xmlns:p14="http://schemas.microsoft.com/office/powerpoint/2010/main" val="1710575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2A15-A202-675C-8161-407A723C3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Redundancy in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F7E7-6A93-144F-3B80-77E31C3F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Redundant data occur when sourcing data from multiple sources</a:t>
            </a:r>
          </a:p>
          <a:p>
            <a:pPr lvl="1"/>
            <a:r>
              <a:rPr lang="en-US" b="1" dirty="0"/>
              <a:t>Object identification</a:t>
            </a:r>
            <a:r>
              <a:rPr lang="en-US" dirty="0"/>
              <a:t>: the same attribute or object may have different names in different databases</a:t>
            </a:r>
          </a:p>
          <a:p>
            <a:pPr lvl="1"/>
            <a:r>
              <a:rPr lang="en-US" b="1" dirty="0"/>
              <a:t>Derivable data</a:t>
            </a:r>
            <a:r>
              <a:rPr lang="en-US" dirty="0"/>
              <a:t>: one attribute may be a “derived” attribute in another table: e.g., the dollar-amount of your salary withheld for retirement</a:t>
            </a:r>
          </a:p>
          <a:p>
            <a:r>
              <a:rPr lang="en-US" dirty="0"/>
              <a:t>Redundant attributes may be able to be  detected by correlation analysis and covariance analysis</a:t>
            </a:r>
          </a:p>
          <a:p>
            <a:r>
              <a:rPr lang="en-US" dirty="0"/>
              <a:t>Careful integration of data from multiple sources can help reduce/avoid redundancies and inconsistencies and improve mining speed and quality.</a:t>
            </a:r>
          </a:p>
        </p:txBody>
      </p:sp>
    </p:spTree>
    <p:extLst>
      <p:ext uri="{BB962C8B-B14F-4D97-AF65-F5344CB8AC3E}">
        <p14:creationId xmlns:p14="http://schemas.microsoft.com/office/powerpoint/2010/main" val="322284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B0A8-513D-FE43-9B71-5F6C70C6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46EE7-D42A-2153-8D31-C05820BDB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RID OF IT ALL (well, not all)</a:t>
            </a:r>
          </a:p>
        </p:txBody>
      </p:sp>
    </p:spTree>
    <p:extLst>
      <p:ext uri="{BB962C8B-B14F-4D97-AF65-F5344CB8AC3E}">
        <p14:creationId xmlns:p14="http://schemas.microsoft.com/office/powerpoint/2010/main" val="3248308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6279-0C8B-028C-FA99-3D174216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67459-53EB-D632-723C-4E90BF52E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Data reduction</a:t>
            </a:r>
            <a:r>
              <a:rPr lang="en-US" dirty="0"/>
              <a:t>: obtaining a reduced representation of the data set that is much smaller in volume yet produces the same (or almost the same) analytical results.</a:t>
            </a:r>
          </a:p>
          <a:p>
            <a:r>
              <a:rPr lang="en-US" dirty="0"/>
              <a:t>Why? </a:t>
            </a:r>
          </a:p>
          <a:p>
            <a:pPr lvl="1"/>
            <a:r>
              <a:rPr lang="en-US" dirty="0"/>
              <a:t>Databases/data warehouses may store terabytes of data or more. Complex analysis could take an extremely long time to run on the entire data set.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419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B451-71F6-CD63-17DC-F92002BF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58FFF-B0B1-95CD-87E4-2D5DBF1E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Dimensionality Reduction</a:t>
            </a:r>
          </a:p>
          <a:p>
            <a:pPr lvl="1"/>
            <a:r>
              <a:rPr lang="en-US" dirty="0"/>
              <a:t>Removing unimportant attributes</a:t>
            </a:r>
          </a:p>
          <a:p>
            <a:pPr lvl="2"/>
            <a:r>
              <a:rPr lang="en-US" dirty="0"/>
              <a:t>Principal Components Analysis (PCA) – later in the course</a:t>
            </a:r>
          </a:p>
          <a:p>
            <a:pPr lvl="2"/>
            <a:r>
              <a:rPr lang="en-US" dirty="0"/>
              <a:t>Feature subset selection, feature creation</a:t>
            </a:r>
          </a:p>
          <a:p>
            <a:r>
              <a:rPr lang="en-US" b="1" dirty="0"/>
              <a:t>Numerosity Reduction</a:t>
            </a:r>
          </a:p>
          <a:p>
            <a:pPr lvl="1"/>
            <a:r>
              <a:rPr lang="en-US" dirty="0"/>
              <a:t>Removing the number of records across all attributes</a:t>
            </a:r>
          </a:p>
          <a:p>
            <a:pPr lvl="2"/>
            <a:r>
              <a:rPr lang="en-US" dirty="0"/>
              <a:t>Regression – later in the course</a:t>
            </a:r>
          </a:p>
          <a:p>
            <a:pPr lvl="2"/>
            <a:r>
              <a:rPr lang="en-US" dirty="0"/>
              <a:t>Histograms, clustering, sampling – later in the course</a:t>
            </a:r>
          </a:p>
        </p:txBody>
      </p:sp>
    </p:spTree>
    <p:extLst>
      <p:ext uri="{BB962C8B-B14F-4D97-AF65-F5344CB8AC3E}">
        <p14:creationId xmlns:p14="http://schemas.microsoft.com/office/powerpoint/2010/main" val="1618787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0098-D996-CC18-18C4-649BAFE9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83D7-0007-E9A1-1785-DAB8ED572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Curse of Dimensionality</a:t>
            </a:r>
          </a:p>
          <a:p>
            <a:pPr lvl="1"/>
            <a:r>
              <a:rPr lang="en-US" dirty="0"/>
              <a:t>When dimensionality increases, data becomes more sparse</a:t>
            </a:r>
          </a:p>
          <a:p>
            <a:pPr lvl="1"/>
            <a:r>
              <a:rPr lang="en-US" dirty="0"/>
              <a:t>Density and distance between points becomes less meaningful</a:t>
            </a:r>
          </a:p>
          <a:p>
            <a:pPr lvl="2"/>
            <a:r>
              <a:rPr lang="en-US" dirty="0"/>
              <a:t>This is detrimental to clustering and outlier analysis</a:t>
            </a:r>
          </a:p>
          <a:p>
            <a:pPr lvl="1"/>
            <a:r>
              <a:rPr lang="en-US" dirty="0"/>
              <a:t>The possible combinations of subspaces will grow exponentially</a:t>
            </a:r>
          </a:p>
          <a:p>
            <a:r>
              <a:rPr lang="en-US" b="1" dirty="0"/>
              <a:t>Dimensionality reduction</a:t>
            </a:r>
          </a:p>
          <a:p>
            <a:pPr lvl="1"/>
            <a:r>
              <a:rPr lang="en-US" dirty="0"/>
              <a:t>Avoids the curse</a:t>
            </a:r>
          </a:p>
          <a:p>
            <a:pPr lvl="1"/>
            <a:r>
              <a:rPr lang="en-US" dirty="0"/>
              <a:t>Helps eliminate irrelevant features and reduce noise</a:t>
            </a:r>
          </a:p>
          <a:p>
            <a:pPr lvl="1"/>
            <a:r>
              <a:rPr lang="en-US" dirty="0"/>
              <a:t>Reduce time and space required in mining</a:t>
            </a:r>
          </a:p>
          <a:p>
            <a:pPr lvl="1"/>
            <a:r>
              <a:rPr lang="en-US" dirty="0"/>
              <a:t>Allows for easier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635872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DD9E-59C2-73A8-9969-1FCA8253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Reduce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019EC-69E6-1C33-7D6B-2205EF03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easy way to reduce dimensions is by being </a:t>
            </a:r>
            <a:r>
              <a:rPr lang="en-US" b="1" dirty="0"/>
              <a:t>selective</a:t>
            </a:r>
            <a:r>
              <a:rPr lang="en-US" dirty="0"/>
              <a:t> of attribute subsets.</a:t>
            </a:r>
          </a:p>
          <a:p>
            <a:r>
              <a:rPr lang="en-US" dirty="0"/>
              <a:t>Redundant attributes: duplicates of much or all of the information contained in one or more attributes</a:t>
            </a:r>
          </a:p>
          <a:p>
            <a:pPr lvl="1"/>
            <a:r>
              <a:rPr lang="en-US" dirty="0"/>
              <a:t>E.g., purchase price, sale price, and sales tax – purchase price is redundant</a:t>
            </a:r>
          </a:p>
          <a:p>
            <a:r>
              <a:rPr lang="en-US" dirty="0"/>
              <a:t>Irrelevant attributes: contain no information that is useful for the mining task at hand</a:t>
            </a:r>
          </a:p>
          <a:p>
            <a:pPr lvl="1"/>
            <a:r>
              <a:rPr lang="en-US" dirty="0"/>
              <a:t>E.g., student E-Numbers are irrelevant when predicting average GPAs for a course</a:t>
            </a:r>
          </a:p>
        </p:txBody>
      </p:sp>
    </p:spTree>
    <p:extLst>
      <p:ext uri="{BB962C8B-B14F-4D97-AF65-F5344CB8AC3E}">
        <p14:creationId xmlns:p14="http://schemas.microsoft.com/office/powerpoint/2010/main" val="975370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3E91-E8EA-66F0-94EB-72E992D7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B71F8-2D62-EC11-84E0-F75C7E3EE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Decepticons – lock in</a:t>
            </a:r>
          </a:p>
        </p:txBody>
      </p:sp>
    </p:spTree>
    <p:extLst>
      <p:ext uri="{BB962C8B-B14F-4D97-AF65-F5344CB8AC3E}">
        <p14:creationId xmlns:p14="http://schemas.microsoft.com/office/powerpoint/2010/main" val="1722086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0E13-E558-C546-BCF3-CD4E9DBD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97EE5-69DC-2C2D-3891-E2C96DD54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maps the entire set of values of a given attribute to a new set of replacement values so  that each old value can be identified with one of the new values.</a:t>
            </a:r>
          </a:p>
          <a:p>
            <a:r>
              <a:rPr lang="en-US" dirty="0"/>
              <a:t>There are two methods to do this:</a:t>
            </a:r>
          </a:p>
          <a:p>
            <a:pPr lvl="1"/>
            <a:r>
              <a:rPr lang="en-US" dirty="0"/>
              <a:t>Normalization: scaled to fall within a smaller, specified range</a:t>
            </a:r>
          </a:p>
          <a:p>
            <a:pPr lvl="1"/>
            <a:r>
              <a:rPr lang="en-US" dirty="0"/>
              <a:t>Discretization: binning, concept hierarchy climbing</a:t>
            </a:r>
          </a:p>
        </p:txBody>
      </p:sp>
    </p:spTree>
    <p:extLst>
      <p:ext uri="{BB962C8B-B14F-4D97-AF65-F5344CB8AC3E}">
        <p14:creationId xmlns:p14="http://schemas.microsoft.com/office/powerpoint/2010/main" val="3419602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7B2A-6EB2-2093-64E6-1CA88801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5D51-B14C-0BCF-7ECD-2ABC6514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Measurement units can affect data analysis</a:t>
            </a:r>
          </a:p>
          <a:p>
            <a:pPr lvl="1"/>
            <a:r>
              <a:rPr lang="en-US" dirty="0"/>
              <a:t>Changing meters </a:t>
            </a:r>
            <a:r>
              <a:rPr lang="en-US" dirty="0">
                <a:sym typeface="Wingdings" panose="05000000000000000000" pitchFamily="2" charset="2"/>
              </a:rPr>
              <a:t> inches may lead to different results</a:t>
            </a:r>
          </a:p>
          <a:p>
            <a:r>
              <a:rPr lang="en-US" dirty="0">
                <a:sym typeface="Wingdings" panose="05000000000000000000" pitchFamily="2" charset="2"/>
              </a:rPr>
              <a:t>We can normalize/standardize data to avoid dependance on the choice of measurement unites</a:t>
            </a:r>
          </a:p>
          <a:p>
            <a:r>
              <a:rPr lang="en-US" dirty="0">
                <a:sym typeface="Wingdings" panose="05000000000000000000" pitchFamily="2" charset="2"/>
              </a:rPr>
              <a:t>This process involves transforming the data to fall within a smaller or common range such as [-1, 1] or [0.0, 1.0]</a:t>
            </a:r>
          </a:p>
        </p:txBody>
      </p:sp>
    </p:spTree>
    <p:extLst>
      <p:ext uri="{BB962C8B-B14F-4D97-AF65-F5344CB8AC3E}">
        <p14:creationId xmlns:p14="http://schemas.microsoft.com/office/powerpoint/2010/main" val="3473703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F044-A11B-CD11-9085-9D94D1FF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– Min-Max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B6174-350D-B59C-4A59-05CEF2DE8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Min-max normalization: to [</a:t>
            </a:r>
            <a:r>
              <a:rPr lang="en-US" altLang="en-US" b="1" dirty="0" err="1">
                <a:solidFill>
                  <a:srgbClr val="00B0F0"/>
                </a:solidFill>
              </a:rPr>
              <a:t>new_min</a:t>
            </a:r>
            <a:r>
              <a:rPr lang="en-US" altLang="en-US" b="1" baseline="-25000" dirty="0" err="1">
                <a:solidFill>
                  <a:srgbClr val="00B0F0"/>
                </a:solidFill>
              </a:rPr>
              <a:t>A</a:t>
            </a:r>
            <a:r>
              <a:rPr lang="en-US" altLang="en-US" dirty="0"/>
              <a:t>, </a:t>
            </a:r>
            <a:r>
              <a:rPr lang="en-US" altLang="en-US" b="1" dirty="0" err="1">
                <a:solidFill>
                  <a:schemeClr val="accent4">
                    <a:lumMod val="75000"/>
                  </a:schemeClr>
                </a:solidFill>
              </a:rPr>
              <a:t>new_max</a:t>
            </a:r>
            <a:r>
              <a:rPr lang="en-US" altLang="en-US" b="1" baseline="-25000" dirty="0" err="1">
                <a:solidFill>
                  <a:schemeClr val="accent4">
                    <a:lumMod val="75000"/>
                  </a:schemeClr>
                </a:solidFill>
              </a:rPr>
              <a:t>A</a:t>
            </a:r>
            <a:r>
              <a:rPr lang="en-US" altLang="en-US" dirty="0"/>
              <a:t>]</a:t>
            </a:r>
            <a:r>
              <a:rPr lang="en-US" altLang="en-US" baseline="-25000" dirty="0"/>
              <a:t> </a:t>
            </a:r>
          </a:p>
          <a:p>
            <a:endParaRPr lang="en-US" baseline="-250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E.g., let income range be $12,000 to $98,000  normalized to [</a:t>
            </a:r>
            <a:r>
              <a:rPr lang="en-US" b="1" dirty="0">
                <a:solidFill>
                  <a:srgbClr val="00B0F0"/>
                </a:solidFill>
              </a:rPr>
              <a:t>0.0</a:t>
            </a:r>
            <a:r>
              <a:rPr lang="en-US" dirty="0"/>
              <a:t>,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1.0</a:t>
            </a:r>
            <a:r>
              <a:rPr lang="en-US" dirty="0"/>
              <a:t>]. A salary of $73,600 can be mapped to 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60AA613D-C81C-4ECC-F314-CE20D4F45F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210422"/>
              </p:ext>
            </p:extLst>
          </p:nvPr>
        </p:nvGraphicFramePr>
        <p:xfrm>
          <a:off x="3124199" y="3540899"/>
          <a:ext cx="59436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100" imgH="393700" progId="Equation.3">
                  <p:embed/>
                </p:oleObj>
              </mc:Choice>
              <mc:Fallback>
                <p:oleObj name="Equation" r:id="rId2" imgW="3340100" imgH="393700" progId="Equation.3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60AA613D-C81C-4ECC-F314-CE20D4F45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9" y="3540899"/>
                        <a:ext cx="59436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A57704D-A1DB-C2BB-E79E-8A25E4A331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569596"/>
              </p:ext>
            </p:extLst>
          </p:nvPr>
        </p:nvGraphicFramePr>
        <p:xfrm>
          <a:off x="4271280" y="5256108"/>
          <a:ext cx="364943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500" imgH="419100" progId="Equation.3">
                  <p:embed/>
                </p:oleObj>
              </mc:Choice>
              <mc:Fallback>
                <p:oleObj name="Equation" r:id="rId4" imgW="2222500" imgH="41910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7A57704D-A1DB-C2BB-E79E-8A25E4A33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280" y="5256108"/>
                        <a:ext cx="3649438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0069AB-0961-5286-2510-B934A7E546D8}"/>
                  </a:ext>
                </a:extLst>
              </p14:cNvPr>
              <p14:cNvContentPartPr/>
              <p14:nvPr/>
            </p14:nvContentPartPr>
            <p14:xfrm>
              <a:off x="7467480" y="2120760"/>
              <a:ext cx="4503240" cy="2419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0069AB-0961-5286-2510-B934A7E546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58120" y="2111400"/>
                <a:ext cx="4521960" cy="243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385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8D939-7DBC-A502-81C3-EBE9F95A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21D67-AE05-439A-9F5C-F2A985119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8371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158</TotalTime>
  <Words>1594</Words>
  <Application>Microsoft Macintosh PowerPoint</Application>
  <PresentationFormat>Widescreen</PresentationFormat>
  <Paragraphs>227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Gill Sans MT</vt:lpstr>
      <vt:lpstr>Wingdings</vt:lpstr>
      <vt:lpstr>Wingdings 2</vt:lpstr>
      <vt:lpstr>Dividend</vt:lpstr>
      <vt:lpstr>Equation</vt:lpstr>
      <vt:lpstr>Data Preprocessing</vt:lpstr>
      <vt:lpstr>Data Quality: Why Preprocess?</vt:lpstr>
      <vt:lpstr>What is Preprocessing?</vt:lpstr>
      <vt:lpstr>Is Preprocessing Important?</vt:lpstr>
      <vt:lpstr>Forms of Data Preprocessing</vt:lpstr>
      <vt:lpstr>Forms of Data Preprocessing, cont.</vt:lpstr>
      <vt:lpstr>Data Cleaning</vt:lpstr>
      <vt:lpstr>Data Cleaning</vt:lpstr>
      <vt:lpstr>Practice Time!</vt:lpstr>
      <vt:lpstr>How to Handle Missing Data</vt:lpstr>
      <vt:lpstr>How to Handle  Missing Data, cont.</vt:lpstr>
      <vt:lpstr>Noisy Data</vt:lpstr>
      <vt:lpstr>How to Handle Noisy Data</vt:lpstr>
      <vt:lpstr>Detecting Discrepancies</vt:lpstr>
      <vt:lpstr>Data Integration</vt:lpstr>
      <vt:lpstr>Data Migration &amp; Integration Considerations</vt:lpstr>
      <vt:lpstr>Data Integration</vt:lpstr>
      <vt:lpstr>Handling Redundancy in Integration</vt:lpstr>
      <vt:lpstr>Data Reduction</vt:lpstr>
      <vt:lpstr>Data Reduction</vt:lpstr>
      <vt:lpstr>Reduction Strategies</vt:lpstr>
      <vt:lpstr>Dimensionality Reduction</vt:lpstr>
      <vt:lpstr>How to Reduce Dimensions</vt:lpstr>
      <vt:lpstr>Data Transformation</vt:lpstr>
      <vt:lpstr>Data Transformation</vt:lpstr>
      <vt:lpstr>Normalization</vt:lpstr>
      <vt:lpstr>Normalization – Min-Max 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Rochelle, William Hamilton</dc:creator>
  <cp:lastModifiedBy>Rochelle, William Hamilton</cp:lastModifiedBy>
  <cp:revision>1</cp:revision>
  <dcterms:created xsi:type="dcterms:W3CDTF">2025-09-22T01:19:03Z</dcterms:created>
  <dcterms:modified xsi:type="dcterms:W3CDTF">2025-09-22T18:57:01Z</dcterms:modified>
</cp:coreProperties>
</file>